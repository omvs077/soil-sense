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    <Relationships xmlns="http://schemas.openxmlformats.org/package/2006/relationships">
      <Relationship Id="rId1" Type="http://schemas.openxmlformats.org/officeDocument/2006/relationships/officeDocument" Target="ppt/presentation.xml"/>
    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screen16x9"/>
  <p:notesSz cx="6858000" cy="9144000"/>
</p:presentation>
</file>

<file path=ppt/_rels/presentation.xml.rels><?xml version="1.0" encoding="UTF-8" standalone="yes"?>
    <Relationships xmlns="http://schemas.openxmlformats.org/package/2006/relationships">
      <Relationship Id="rId1" Type="http://schemas.openxmlformats.org/officeDocument/2006/relationships/slideMaster" Target="slideMasters/slideMaster1.xml"/>
    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</Relationships>
</file>

<file path=ppt/slideLayouts/_rels/slideLayout1.xml.rels><?xml version="1.0" encoding="UTF-8" standalone="yes"?>
    <Relationships xmlns="http://schemas.openxmlformats.org/package/2006/relationships">
      <Relationship Id="rId1" Type="http://schemas.openxmlformats.org/officeDocument/2006/relationships/slideMaster" Target="../slideMasters/slideMaster1.xml"/>
    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  <Relationship Id="rId2" Type="http://schemas.openxmlformats.org/officeDocument/2006/relationships/theme" Target="../theme/theme1.xml"/>
    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</Relationships>
</file>

<file path=ppt/slides/_rels/slide2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</Relationships>
</file>

<file path=ppt/slides/_rels/slide3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</Relationships>
</file>

<file path=ppt/slides/_rels/slide4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</Relationships>
</file>

<file path=ppt/slides/_rels/slide5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</Relationships>
</file>

<file path=ppt/slides/_rels/slide6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</Relationships>
</file>

<file path=ppt/slides/_rels/slide7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</Relationships>
</file>

<file path=ppt/slides/_rels/slide8.xml.rels><?xml version="1.0" encoding="UTF-8" standalone="yes"?>
    <Relationships xmlns="http://schemas.openxmlformats.org/package/2006/relationships">
      <Relationship Id="rId1" Type="http://schemas.openxmlformats.org/officeDocument/2006/relationships/slideLayout" Target="../slideLayouts/slideLayout1.xml"/>
    </Relationships>
</file>

<file path=ppt/slides/slide1.xml><?xml version="1.0" encoding="UTF-8" standalone="yes"?>
    <p:sld xmlns:a="http://schemas.openxmlformats.org/drawingml/2006/main"
           xmlns:r="http://schemas.openxmlformats.org/officeDocument/2006/relationships"
          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
    <p:sp>
      <p:nvSpPr><p:cNvPr id="2" name="Background"/><p:cNvSpPr/><p:nvPr/></p:nvSpPr>
      <p:spPr>
        <a:xfrm><a:off x="0" y="0"/><a:ext cx="12192000" cy="6858000"/></a:xfrm>
        <a:prstGeom prst="rect"><a:avLst/></a:prstGeom>
        <a:solidFill><a:srgbClr val="0A1120"/></a:solidFill>
      </p:spPr>
      <p:txBody><a:bodyPr/><a:lstStyle/><a:p/></p:txBody>
    </p:sp>
    
        <p:sp>
          <p:nvSpPr><p:cNvPr id="3" name="Header"/><p:cNvSpPr/><p:nvPr/></p:nvSpPr>
          <p:spPr>
            <a:xfrm><a:off x="731520" y="365760"/><a:ext cx="10972800" cy="914400"/></a:xfrm>
            <a:prstGeom prst="rect"><a:avLst/></a:prstGeom>
            <a:noFill/>
            <a:ln><a:noFill/></a:ln>
          </p:spPr>
          <p:txBody>
            <a:bodyPr lIns="0" tIns="0" rIns="0" bIns="0"/>
            <a:lstStyle/>
            
        <a:p>
          <a:r>
            <a:rPr lang="en-US" sz="1050" b="1">
              <a:solidFill><a:srgbClr val="10B981"/></a:solidFill>
              <a:latin typeface="Segoe UI"/>
            </a:rPr>
            <a:t>🌱 MACHINE LEARNING & PRECISION AGRICULTURE</a:t>
          </a:r>
        </a:p>
        
            
          </p:txBody>
        </p:sp>
        
    <p:sp>
      <p:nvSpPr>
        <p:cNvPr id="4" name="Card_4"/>
        <p:cNvSpPr/>
        <p:nvPr/>
      </p:nvSpPr>
      <p:spPr>
        <a:xfrm>
          <a:off x="731520" y="1463040"/>
          <a:ext cx="10698480" cy="4114800"/>
        </a:xfrm>
        <a:prstGeom prst="roundRect">
          <a:avLst><a:gd name="adj" fmla="val 2000"/></a:avLst>
        </a:prstGeom>
        <a:solidFill><a:srgbClr val="111A2E"/></a:solidFill>
        <a:ln w="19050"><a:solidFill><a:srgbClr val="10B981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Soil-Sense: Precision Soil Fertility Diagnostics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Project Goal:</a:t>
              </a:r>
              <a:r>
                <a:rPr lang="en-US" sz="1150" b="0">
                  <a:solidFill><a:srgbClr val="94A3B8"/></a:solidFill>
                  <a:latin typeface="Segoe UI"/>
                </a:rPr>
                <a:t> Explainable Multiclass Machine Learning Classification (Low / Medium / High).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Agronomic Indicators:</a:t>
              </a:r>
              <a:r>
                <a:rPr lang="en-US" sz="1150" b="0">
                  <a:solidFill><a:srgbClr val="94A3B8"/></a:solidFill>
                  <a:latin typeface="Segoe UI"/>
                </a:rPr>
                <a:t> Nitrogen (N), Phosphorus (P), Potassium (K), pH, EC, Moisture, Temperature, Humidity.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Security Engineering:</a:t>
              </a:r>
              <a:r>
                <a:rPr lang="en-US" sz="1150" b="0">
                  <a:solidFill><a:srgbClr val="94A3B8"/></a:solidFill>
                  <a:latin typeface="Segoe UI"/>
                </a:rPr>
                <a:t> Cryptographic SHA-256 model verification mitigating CWE-502 deserialization risks.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Storage Sandbox:</a:t>
              </a:r>
              <a:r>
                <a:rPr lang="en-US" sz="1150" b="0">
                  <a:solidFill><a:srgbClr val="94A3B8"/></a:solidFill>
                  <a:latin typeface="Segoe UI"/>
                </a:rPr>
                <a:t> 100% contained execution on D: drive with zero C: drive bloat (< 400 MB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Live Deployment:</a:t>
              </a:r>
              <a:r>
                <a:rPr lang="en-US" sz="1150" b="0">
                  <a:solidFill><a:srgbClr val="94A3B8"/></a:solidFill>
                  <a:latin typeface="Segoe UI"/>
                </a:rPr>
                <a:t> Interactive responsive Bento-grid dashboard hosted on Streamlit Cloud.</a:t>
              </a:r>
            </a:p>
            
      </p:txBody>
    </p:sp>
    
        </p:spTree>
      </p:cSld>
      <p:clrMapOvr><a:masterClrMapping/></p:clrMapOvr>
    </p:sld>
    
</file>

<file path=ppt/slides/slide2.xml><?xml version="1.0" encoding="UTF-8" standalone="yes"?>
    <p:sld xmlns:a="http://schemas.openxmlformats.org/drawingml/2006/main"
           xmlns:r="http://schemas.openxmlformats.org/officeDocument/2006/relationships"
          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
    <p:sp>
      <p:nvSpPr><p:cNvPr id="2" name="Background"/><p:cNvSpPr/><p:nvPr/></p:nvSpPr>
      <p:spPr>
        <a:xfrm><a:off x="0" y="0"/><a:ext cx="12192000" cy="6858000"/></a:xfrm>
        <a:prstGeom prst="rect"><a:avLst/></a:prstGeom>
        <a:solidFill><a:srgbClr val="0A1120"/></a:solidFill>
      </p:spPr>
      <p:txBody><a:bodyPr/><a:lstStyle/><a:p/></p:txBody>
    </p:sp>
    
        <p:sp>
          <p:nvSpPr><p:cNvPr id="3" name="Header"/><p:cNvSpPr/><p:nvPr/></p:nvSpPr>
          <p:spPr>
            <a:xfrm><a:off x="731520" y="365760"/><a:ext cx="10972800" cy="914400"/></a:xfrm>
            <a:prstGeom prst="rect"><a:avLst/></a:prstGeom>
            <a:noFill/>
            <a:ln><a:noFill/></a:ln>
          </p:spPr>
          <p:txBody>
            <a:bodyPr lIns="0" tIns="0" rIns="0" bIns="0"/>
            <a:lstStyle/>
            
        <a:p>
          <a:r>
            <a:rPr lang="en-US" sz="1050" b="1">
              <a:solidFill><a:srgbClr val="10B981"/></a:solidFill>
              <a:latin typeface="Segoe UI"/>
            </a:rPr>
            <a:t>01 • PROBLEM STATEMENT & MOTIVATION</a:t>
          </a:r>
        </a:p>
        
            
        <a:p>
          <a:spcBef><a:spcPts val="200"/></a:spcBef>
          <a:r>
            <a:rPr lang="en-US" sz="2400" b="1">
              <a:solidFill><a:srgbClr val="F8FAFC"/></a:solidFill>
              <a:latin typeface="Segoe UI"/>
            </a:rPr>
            <a:t>Challenges in Modern Soil Diagnostics</a:t>
          </a:r>
        </a:p>
        
          </p:txBody>
        </p:sp>
        
    <p:sp>
      <p:nvSpPr>
        <p:cNvPr id="4" name="Card_4"/>
        <p:cNvSpPr/>
        <p:nvPr/>
      </p:nvSpPr>
      <p:spPr>
        <a:xfrm>
          <a:off x="7315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E293B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⚠️ Wet-Lab Bottlenecks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High Latency:</a:t>
              </a:r>
              <a:r>
                <a:rPr lang="en-US" sz="1150" b="0">
                  <a:solidFill><a:srgbClr val="94A3B8"/></a:solidFill>
                  <a:latin typeface="Segoe UI"/>
                </a:rPr>
                <a:t> Laboratory chemical soil testing typically takes 2 to 4 weeks for results.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Diagnostic Complexity:</a:t>
              </a:r>
              <a:r>
                <a:rPr lang="en-US" sz="1150" b="0">
                  <a:solidFill><a:srgbClr val="94A3B8"/></a:solidFill>
                  <a:latin typeface="Segoe UI"/>
                </a:rPr>
                <a:t> Interpreting 8+ physicochemical parameters simultaneously is challenging for growers.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Over-Fertilization:</a:t>
              </a:r>
              <a:r>
                <a:rPr lang="en-US" sz="1150" b="0">
                  <a:solidFill><a:srgbClr val="94A3B8"/></a:solidFill>
                  <a:latin typeface="Segoe UI"/>
                </a:rPr>
                <a:t> Misdiagnosing soil leads to excessive chemical application and ground-water pollution.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Accessibility:</a:t>
              </a:r>
              <a:r>
                <a:rPr lang="en-US" sz="1150" b="0">
                  <a:solidFill><a:srgbClr val="94A3B8"/></a:solidFill>
                  <a:latin typeface="Segoe UI"/>
                </a:rPr>
                <a:t> Smallholder farmers lack real-time decision-support tools in remote rural belts.</a:t>
              </a:r>
            </a:p>
            
      </p:txBody>
    </p:sp>
    
    <p:sp>
      <p:nvSpPr>
        <p:cNvPr id="5" name="Card_5"/>
        <p:cNvSpPr/>
        <p:nvPr/>
      </p:nvSpPr>
      <p:spPr>
        <a:xfrm>
          <a:off x="62179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0B981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💡 Soil-Sense Solution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Real-Time Inference:</a:t>
              </a:r>
              <a:r>
                <a:rPr lang="en-US" sz="1150" b="0">
                  <a:solidFill><a:srgbClr val="94A3B8"/></a:solidFill>
                  <a:latin typeface="Segoe UI"/>
                </a:rPr>
                <a:t> Multiclass classification (Low / Medium / High) generated in under 50 milliseconds.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Actionable Heuristics:</a:t>
              </a:r>
              <a:r>
                <a:rPr lang="en-US" sz="1150" b="0">
                  <a:solidFill><a:srgbClr val="94A3B8"/></a:solidFill>
                  <a:latin typeface="Segoe UI"/>
                </a:rPr>
                <a:t> Automatic parameter diagnosis mapped to ICAR/FAO corrective amendments.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Zero Cloud Lock-in:</a:t>
              </a:r>
              <a:r>
                <a:rPr lang="en-US" sz="1150" b="0">
                  <a:solidFill><a:srgbClr val="94A3B8"/></a:solidFill>
                  <a:latin typeface="Segoe UI"/>
                </a:rPr>
                <a:t> Runs on lightweight Scikit-learn pipelines with zero heavy deep-learning bloat.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Multi-Sample Screening:</a:t>
              </a:r>
              <a:r>
                <a:rPr lang="en-US" sz="1150" b="0">
                  <a:solidFill><a:srgbClr val="94A3B8"/></a:solidFill>
                  <a:latin typeface="Segoe UI"/>
                </a:rPr>
                <a:t> Upload batch farm surveys with instant CSV diagnostic report exports.</a:t>
              </a:r>
            </a:p>
            
      </p:txBody>
    </p:sp>
    
        </p:spTree>
      </p:cSld>
      <p:clrMapOvr><a:masterClrMapping/></p:clrMapOvr>
    </p:sld>
    
</file>

<file path=ppt/slides/slide3.xml><?xml version="1.0" encoding="UTF-8" standalone="yes"?>
    <p:sld xmlns:a="http://schemas.openxmlformats.org/drawingml/2006/main"
           xmlns:r="http://schemas.openxmlformats.org/officeDocument/2006/relationships"
          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
    <p:sp>
      <p:nvSpPr><p:cNvPr id="2" name="Background"/><p:cNvSpPr/><p:nvPr/></p:nvSpPr>
      <p:spPr>
        <a:xfrm><a:off x="0" y="0"/><a:ext cx="12192000" cy="6858000"/></a:xfrm>
        <a:prstGeom prst="rect"><a:avLst/></a:prstGeom>
        <a:solidFill><a:srgbClr val="0A1120"/></a:solidFill>
      </p:spPr>
      <p:txBody><a:bodyPr/><a:lstStyle/><a:p/></p:txBody>
    </p:sp>
    
        <p:sp>
          <p:nvSpPr><p:cNvPr id="3" name="Header"/><p:cNvSpPr/><p:nvPr/></p:nvSpPr>
          <p:spPr>
            <a:xfrm><a:off x="731520" y="365760"/><a:ext cx="10972800" cy="914400"/></a:xfrm>
            <a:prstGeom prst="rect"><a:avLst/></a:prstGeom>
            <a:noFill/>
            <a:ln><a:noFill/></a:ln>
          </p:spPr>
          <p:txBody>
            <a:bodyPr lIns="0" tIns="0" rIns="0" bIns="0"/>
            <a:lstStyle/>
            
        <a:p>
          <a:r>
            <a:rPr lang="en-US" sz="1050" b="1">
              <a:solidFill><a:srgbClr val="10B981"/></a:solidFill>
              <a:latin typeface="Segoe UI"/>
            </a:rPr>
            <a:t>02 • SYSTEM ARCHITECTURE & SANDBOXING</a:t>
          </a:r>
        </a:p>
        
            
        <a:p>
          <a:spcBef><a:spcPts val="200"/></a:spcBef>
          <a:r>
            <a:rPr lang="en-US" sz="2400" b="1">
              <a:solidFill><a:srgbClr val="F8FAFC"/></a:solidFill>
              <a:latin typeface="Segoe UI"/>
            </a:rPr>
            <a:t>Technical Architecture & Storage Protection</a:t>
          </a:r>
        </a:p>
        
          </p:txBody>
        </p:sp>
        
    <p:sp>
      <p:nvSpPr>
        <p:cNvPr id="4" name="Card_4"/>
        <p:cNvSpPr/>
        <p:nvPr/>
      </p:nvSpPr>
      <p:spPr>
        <a:xfrm>
          <a:off x="731520" y="1554480"/>
          <a:ext cx="3383280" cy="4572000"/>
        </a:xfrm>
        <a:prstGeom prst="roundRect">
          <a:avLst><a:gd name="adj" fmla="val 2000"/></a:avLst>
        </a:prstGeom>
        <a:solidFill><a:srgbClr val="111A2E"/></a:solidFill>
        <a:ln w="19050"><a:solidFill><a:srgbClr val="1E293B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1. Core Stack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Language:</a:t>
              </a:r>
              <a:r>
                <a:rPr lang="en-US" sz="1150" b="0">
                  <a:solidFill><a:srgbClr val="94A3B8"/></a:solidFill>
                  <a:latin typeface="Segoe UI"/>
                </a:rPr>
                <a:t> Python 3.12 / 3.14.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ML Engine:</a:t>
              </a:r>
              <a:r>
                <a:rPr lang="en-US" sz="1150" b="0">
                  <a:solidFill><a:srgbClr val="94A3B8"/></a:solidFill>
                  <a:latin typeface="Segoe UI"/>
                </a:rPr>
                <a:t> Scikit-learn (Pipelines, Scalers, Imputers).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Data Engine:</a:t>
              </a:r>
              <a:r>
                <a:rPr lang="en-US" sz="1150" b="0">
                  <a:solidFill><a:srgbClr val="94A3B8"/></a:solidFill>
                  <a:latin typeface="Segoe UI"/>
                </a:rPr>
                <a:t> Pandas & NumPy.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Validation:</a:t>
              </a:r>
              <a:r>
                <a:rPr lang="en-US" sz="1150" b="0">
                  <a:solidFill><a:srgbClr val="94A3B8"/></a:solidFill>
                  <a:latin typeface="Segoe UI"/>
                </a:rPr>
                <a:t> Pydantic v2 schemas.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Frontend:</a:t>
              </a:r>
              <a:r>
                <a:rPr lang="en-US" sz="1150" b="0">
                  <a:solidFill><a:srgbClr val="94A3B8"/></a:solidFill>
                  <a:latin typeface="Segoe UI"/>
                </a:rPr>
                <a:t> Streamlit with responsive CSS Grid.</a:t>
              </a:r>
            </a:p>
            
      </p:txBody>
    </p:sp>
    
    <p:sp>
      <p:nvSpPr>
        <p:cNvPr id="5" name="Card_5"/>
        <p:cNvSpPr/>
        <p:nvPr/>
      </p:nvSpPr>
      <p:spPr>
        <a:xfrm>
          <a:off x="4389120" y="1554480"/>
          <a:ext cx="3383280" cy="4572000"/>
        </a:xfrm>
        <a:prstGeom prst="roundRect">
          <a:avLst><a:gd name="adj" fmla="val 2000"/></a:avLst>
        </a:prstGeom>
        <a:solidFill><a:srgbClr val="111A2E"/></a:solidFill>
        <a:ln w="19050"><a:solidFill><a:srgbClr val="1E293B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2. Pipeline Design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Data Ingestion:</a:t>
              </a:r>
              <a:r>
                <a:rPr lang="en-US" sz="1150" b="0">
                  <a:solidFill><a:srgbClr val="94A3B8"/></a:solidFill>
                  <a:latin typeface="Segoe UI"/>
                </a:rPr>
                <a:t> Clean raw tabular soil observation datasets.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Leak-Free Scaling:</a:t>
              </a:r>
              <a:r>
                <a:rPr lang="en-US" sz="1150" b="0">
                  <a:solidFill><a:srgbClr val="94A3B8"/></a:solidFill>
                  <a:latin typeface="Segoe UI"/>
                </a:rPr>
                <a:t> StandardScaler fitted strictly on X_train.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Class Balancing:</a:t>
              </a:r>
              <a:r>
                <a:rPr lang="en-US" sz="1150" b="0">
                  <a:solidFill><a:srgbClr val="94A3B8"/></a:solidFill>
                  <a:latin typeface="Segoe UI"/>
                </a:rPr>
                <a:t> Stratified split ensuring uniform sensitivity.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Inference Engine:</a:t>
              </a:r>
              <a:r>
                <a:rPr lang="en-US" sz="1150" b="0">
                  <a:solidFill><a:srgbClr val="94A3B8"/></a:solidFill>
                  <a:latin typeface="Segoe UI"/>
                </a:rPr>
                <a:t> Returns class and confidence probabilities.</a:t>
              </a:r>
            </a:p>
            
      </p:txBody>
    </p:sp>
    
    <p:sp>
      <p:nvSpPr>
        <p:cNvPr id="6" name="Card_6"/>
        <p:cNvSpPr/>
        <p:nvPr/>
      </p:nvSpPr>
      <p:spPr>
        <a:xfrm>
          <a:off x="8046720" y="1554480"/>
          <a:ext cx="3383280" cy="4572000"/>
        </a:xfrm>
        <a:prstGeom prst="roundRect">
          <a:avLst><a:gd name="adj" fmla="val 2000"/></a:avLst>
        </a:prstGeom>
        <a:solidFill><a:srgbClr val="111A2E"/></a:solidFill>
        <a:ln w="19050"><a:solidFill><a:srgbClr val="10B981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3. C: Drive Protection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Virtualenv on D:</a:t>
              </a:r>
              <a:r>
                <a:rPr lang="en-US" sz="1150" b="0">
                  <a:solidFill><a:srgbClr val="94A3B8"/></a:solidFill>
                  <a:latin typeface="Segoe UI"/>
                </a:rPr>
                <a:t> Isolated .venv on secondary drive.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Cache Redirection:</a:t>
              </a:r>
              <a:r>
                <a:rPr lang="en-US" sz="1150" b="0">
                  <a:solidFill><a:srgbClr val="94A3B8"/></a:solidFill>
                  <a:latin typeface="Segoe UI"/>
                </a:rPr>
                <a:t> Pip cache set to D:\pip-cache.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Temp Isolation:</a:t>
              </a:r>
              <a:r>
                <a:rPr lang="en-US" sz="1150" b="0">
                  <a:solidFill><a:srgbClr val="94A3B8"/></a:solidFill>
                  <a:latin typeface="Segoe UI"/>
                </a:rPr>
                <a:t> Build temp pointed to D:\temp.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Ultra-Light:</a:t>
              </a:r>
              <a:r>
                <a:rPr lang="en-US" sz="1150" b="0">
                  <a:solidFill><a:srgbClr val="94A3B8"/></a:solidFill>
                  <a:latin typeface="Segoe UI"/>
                </a:rPr>
                <a:t> Complete footprint < 400 MB.</a:t>
              </a:r>
            </a:p>
            
      </p:txBody>
    </p:sp>
    
        </p:spTree>
      </p:cSld>
      <p:clrMapOvr><a:masterClrMapping/></p:clrMapOvr>
    </p:sld>
    
</file>

<file path=ppt/slides/slide4.xml><?xml version="1.0" encoding="UTF-8" standalone="yes"?>
    <p:sld xmlns:a="http://schemas.openxmlformats.org/drawingml/2006/main"
           xmlns:r="http://schemas.openxmlformats.org/officeDocument/2006/relationships"
          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
    <p:sp>
      <p:nvSpPr><p:cNvPr id="2" name="Background"/><p:cNvSpPr/><p:nvPr/></p:nvSpPr>
      <p:spPr>
        <a:xfrm><a:off x="0" y="0"/><a:ext cx="12192000" cy="6858000"/></a:xfrm>
        <a:prstGeom prst="rect"><a:avLst/></a:prstGeom>
        <a:solidFill><a:srgbClr val="0A1120"/></a:solidFill>
      </p:spPr>
      <p:txBody><a:bodyPr/><a:lstStyle/><a:p/></p:txBody>
    </p:sp>
    
        <p:sp>
          <p:nvSpPr><p:cNvPr id="3" name="Header"/><p:cNvSpPr/><p:nvPr/></p:nvSpPr>
          <p:spPr>
            <a:xfrm><a:off x="731520" y="365760"/><a:ext cx="10972800" cy="914400"/></a:xfrm>
            <a:prstGeom prst="rect"><a:avLst/></a:prstGeom>
            <a:noFill/>
            <a:ln><a:noFill/></a:ln>
          </p:spPr>
          <p:txBody>
            <a:bodyPr lIns="0" tIns="0" rIns="0" bIns="0"/>
            <a:lstStyle/>
            
        <a:p>
          <a:r>
            <a:rPr lang="en-US" sz="1050" b="1">
              <a:solidFill><a:srgbClr val="10B981"/></a:solidFill>
              <a:latin typeface="Segoe UI"/>
            </a:rPr>
            <a:t>03 • DATA ENGINEERING & AGRONOMY</a:t>
          </a:r>
        </a:p>
        
            
        <a:p>
          <a:spcBef><a:spcPts val="200"/></a:spcBef>
          <a:r>
            <a:rPr lang="en-US" sz="2400" b="1">
              <a:solidFill><a:srgbClr val="F8FAFC"/></a:solidFill>
              <a:latin typeface="Segoe UI"/>
            </a:rPr>
            <a:t>8 Physicochemical Features & ICAR Standards</a:t>
          </a:r>
        </a:p>
        
          </p:txBody>
        </p:sp>
        
    <p:sp>
      <p:nvSpPr>
        <p:cNvPr id="4" name="Card_4"/>
        <p:cNvSpPr/>
        <p:nvPr/>
      </p:nvSpPr>
      <p:spPr>
        <a:xfrm>
          <a:off x="7315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E293B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🧪 8 Measurable Soil Features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Nitrogen (N):</a:t>
              </a:r>
              <a:r>
                <a:rPr lang="en-US" sz="1150" b="0">
                  <a:solidFill><a:srgbClr val="94A3B8"/></a:solidFill>
                  <a:latin typeface="Segoe UI"/>
                </a:rPr>
                <a:t> Essential for vegetative foliage (Optimal: 140–280 mg/kg).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Phosphorus (P):</a:t>
              </a:r>
              <a:r>
                <a:rPr lang="en-US" sz="1150" b="0">
                  <a:solidFill><a:srgbClr val="94A3B8"/></a:solidFill>
                  <a:latin typeface="Segoe UI"/>
                </a:rPr>
                <a:t> Early root development & cellular energy (Optimal: 15–30 mg/kg).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Potassium (K):</a:t>
              </a:r>
              <a:r>
                <a:rPr lang="en-US" sz="1150" b="0">
                  <a:solidFill><a:srgbClr val="94A3B8"/></a:solidFill>
                  <a:latin typeface="Segoe UI"/>
                </a:rPr>
                <a:t> Stomatal regulation & drought tolerance (Optimal: 130–280 mg/kg).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Soil Reaction (pH):</a:t>
              </a:r>
              <a:r>
                <a:rPr lang="en-US" sz="1150" b="0">
                  <a:solidFill><a:srgbClr val="94A3B8"/></a:solidFill>
                  <a:latin typeface="Segoe UI"/>
                </a:rPr>
                <a:t> Acidity vs alkalinity on 0–14 scale (Neutral: 6.2–7.5).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Electrical Cond. (EC):</a:t>
              </a:r>
              <a:r>
                <a:rPr lang="en-US" sz="1150" b="0">
                  <a:solidFill><a:srgbClr val="94A3B8"/></a:solidFill>
                  <a:latin typeface="Segoe UI"/>
                </a:rPr>
                <a:t> Salinity index in dS/m (Non-saline: < 1.0 dS/m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Moisture & Climate:</a:t>
              </a:r>
              <a:r>
                <a:rPr lang="en-US" sz="1150" b="0">
                  <a:solidFill><a:srgbClr val="94A3B8"/></a:solidFill>
                  <a:latin typeface="Segoe UI"/>
                </a:rPr>
                <a:t> Available water % (25–60%), Temperature & Humidity.</a:t>
              </a:r>
            </a:p>
            
      </p:txBody>
    </p:sp>
    
    <p:sp>
      <p:nvSpPr>
        <p:cNvPr id="5" name="Card_5"/>
        <p:cNvSpPr/>
        <p:nvPr/>
      </p:nvSpPr>
      <p:spPr>
        <a:xfrm>
          <a:off x="62179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0B981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🌾 Fertility Class Tiers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High Fertility (🟢):</a:t>
              </a:r>
              <a:r>
                <a:rPr lang="en-US" sz="1150" b="0">
                  <a:solidFill><a:srgbClr val="94A3B8"/></a:solidFill>
                  <a:latin typeface="Segoe UI"/>
                </a:rPr>
                <a:t> Balanced macronutrients, neutral pH, low salinity, optimal moisture.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Medium Fertility (🟡):</a:t>
              </a:r>
              <a:r>
                <a:rPr lang="en-US" sz="1150" b="0">
                  <a:solidFill><a:srgbClr val="94A3B8"/></a:solidFill>
                  <a:latin typeface="Segoe UI"/>
                </a:rPr>
                <a:t> Moderate nutrient levels, mild pH deviation, or minor water stress.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Low Fertility (🔴):</a:t>
              </a:r>
              <a:r>
                <a:rPr lang="en-US" sz="1150" b="0">
                  <a:solidFill><a:srgbClr val="94A3B8"/></a:solidFill>
                  <a:latin typeface="Segoe UI"/>
                </a:rPr>
                <a:t> Severe depletion in NPK, extreme acidity (< 5.5) or sodicity (> 8.5), or salinity.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Scientific Alignment:</a:t>
              </a:r>
              <a:r>
                <a:rPr lang="en-US" sz="1150" b="0">
                  <a:solidFill><a:srgbClr val="94A3B8"/></a:solidFill>
                  <a:latin typeface="Segoe UI"/>
                </a:rPr>
                <a:t> Calibrated against ICAR Soil Health Card standards.</a:t>
              </a:r>
            </a:p>
            
      </p:txBody>
    </p:sp>
    
        </p:spTree>
      </p:cSld>
      <p:clrMapOvr><a:masterClrMapping/></p:clrMapOvr>
    </p:sld>
    
</file>

<file path=ppt/slides/slide5.xml><?xml version="1.0" encoding="UTF-8" standalone="yes"?>
    <p:sld xmlns:a="http://schemas.openxmlformats.org/drawingml/2006/main"
           xmlns:r="http://schemas.openxmlformats.org/officeDocument/2006/relationships"
          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
    <p:sp>
      <p:nvSpPr><p:cNvPr id="2" name="Background"/><p:cNvSpPr/><p:nvPr/></p:nvSpPr>
      <p:spPr>
        <a:xfrm><a:off x="0" y="0"/><a:ext cx="12192000" cy="6858000"/></a:xfrm>
        <a:prstGeom prst="rect"><a:avLst/></a:prstGeom>
        <a:solidFill><a:srgbClr val="0A1120"/></a:solidFill>
      </p:spPr>
      <p:txBody><a:bodyPr/><a:lstStyle/><a:p/></p:txBody>
    </p:sp>
    
        <p:sp>
          <p:nvSpPr><p:cNvPr id="3" name="Header"/><p:cNvSpPr/><p:nvPr/></p:nvSpPr>
          <p:spPr>
            <a:xfrm><a:off x="731520" y="365760"/><a:ext cx="10972800" cy="914400"/></a:xfrm>
            <a:prstGeom prst="rect"><a:avLst/></a:prstGeom>
            <a:noFill/>
            <a:ln><a:noFill/></a:ln>
          </p:spPr>
          <p:txBody>
            <a:bodyPr lIns="0" tIns="0" rIns="0" bIns="0"/>
            <a:lstStyle/>
            
        <a:p>
          <a:r>
            <a:rPr lang="en-US" sz="1050" b="1">
              <a:solidFill><a:srgbClr val="10B981"/></a:solidFill>
              <a:latin typeface="Segoe UI"/>
            </a:rPr>
            <a:t>04 • MODELING & EXPERIMENTAL BENCHMARKS</a:t>
          </a:r>
        </a:p>
        
            
        <a:p>
          <a:spcBef><a:spcPts val="200"/></a:spcBef>
          <a:r>
            <a:rPr lang="en-US" sz="2400" b="1">
              <a:solidFill><a:srgbClr val="F8FAFC"/></a:solidFill>
              <a:latin typeface="Segoe UI"/>
            </a:rPr>
            <a:t>Supervised Classifier Comparison</a:t>
          </a:r>
        </a:p>
        
          </p:txBody>
        </p:sp>
        
    <p:sp>
      <p:nvSpPr>
        <p:cNvPr id="4" name="Card_4"/>
        <p:cNvSpPr/>
        <p:nvPr/>
      </p:nvSpPr>
      <p:spPr>
        <a:xfrm>
          <a:off x="7315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E293B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📊 5-Fold Stratified Cross-Validation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Decision Tree Classifier:</a:t>
              </a:r>
              <a:r>
                <a:rPr lang="en-US" sz="1150" b="0">
                  <a:solidFill><a:srgbClr val="94A3B8"/></a:solidFill>
                  <a:latin typeface="Segoe UI"/>
                </a:rPr>
                <a:t> Explainable baseline. CV Macro F1: 97.23% | Test F1: 96.96%.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Random Forest Classifier:</a:t>
              </a:r>
              <a:r>
                <a:rPr lang="en-US" sz="1150" b="0">
                  <a:solidFill><a:srgbClr val="94A3B8"/></a:solidFill>
                  <a:latin typeface="Segoe UI"/>
                </a:rPr>
                <a:t> Bagging ensemble of 120 trees. CV Macro F1: 99.79% | Test F1: 99.44%.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K-Nearest Neighbors (Champion):</a:t>
              </a:r>
              <a:r>
                <a:rPr lang="en-US" sz="1150" b="0">
                  <a:solidFill><a:srgbClr val="94A3B8"/></a:solidFill>
                  <a:latin typeface="Segoe UI"/>
                </a:rPr>
                <a:t> Distance-weighted classifier. CV Macro F1: 99.72% | Test F1: 100.0%.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Metric Focus:</a:t>
              </a:r>
              <a:r>
                <a:rPr lang="en-US" sz="1150" b="0">
                  <a:solidFill><a:srgbClr val="94A3B8"/></a:solidFill>
                  <a:latin typeface="Segoe UI"/>
                </a:rPr>
                <a:t> Evaluated using Macro-averaged F1 to prevent majority-class bias.</a:t>
              </a:r>
            </a:p>
            
      </p:txBody>
    </p:sp>
    
    <p:sp>
      <p:nvSpPr>
        <p:cNvPr id="5" name="Card_5"/>
        <p:cNvSpPr/>
        <p:nvPr/>
      </p:nvSpPr>
      <p:spPr>
        <a:xfrm>
          <a:off x="62179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0B981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🏆 Pipeline Highlights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Zero Data Leakage:</a:t>
              </a:r>
              <a:r>
                <a:rPr lang="en-US" sz="1150" b="0">
                  <a:solidFill><a:srgbClr val="94A3B8"/></a:solidFill>
                  <a:latin typeface="Segoe UI"/>
                </a:rPr>
                <a:t> Scalers fitted solely on training folds within Pipeline.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Test Evaluation:</a:t>
              </a:r>
              <a:r>
                <a:rPr lang="en-US" sz="1150" b="0">
                  <a:solidFill><a:srgbClr val="94A3B8"/></a:solidFill>
                  <a:latin typeface="Segoe UI"/>
                </a:rPr>
                <a:t> Evaluated on 360 untouched test samples with clean boundary separation.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Feature Importance:</a:t>
              </a:r>
              <a:r>
                <a:rPr lang="en-US" sz="1150" b="0">
                  <a:solidFill><a:srgbClr val="94A3B8"/></a:solidFill>
                  <a:latin typeface="Segoe UI"/>
                </a:rPr>
                <a:t> Nitrogen, Phosphorus, and Electrical Conductivity are primary decision drivers.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Reproducibility:</a:t>
              </a:r>
              <a:r>
                <a:rPr lang="en-US" sz="1150" b="0">
                  <a:solidFill><a:srgbClr val="94A3B8"/></a:solidFill>
                  <a:latin typeface="Segoe UI"/>
                </a:rPr>
                <a:t> Seed fixed across all random splits.</a:t>
              </a:r>
            </a:p>
            
      </p:txBody>
    </p:sp>
    
        </p:spTree>
      </p:cSld>
      <p:clrMapOvr><a:masterClrMapping/></p:clrMapOvr>
    </p:sld>
    
</file>

<file path=ppt/slides/slide6.xml><?xml version="1.0" encoding="UTF-8" standalone="yes"?>
    <p:sld xmlns:a="http://schemas.openxmlformats.org/drawingml/2006/main"
           xmlns:r="http://schemas.openxmlformats.org/officeDocument/2006/relationships"
          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
    <p:sp>
      <p:nvSpPr><p:cNvPr id="2" name="Background"/><p:cNvSpPr/><p:nvPr/></p:nvSpPr>
      <p:spPr>
        <a:xfrm><a:off x="0" y="0"/><a:ext cx="12192000" cy="6858000"/></a:xfrm>
        <a:prstGeom prst="rect"><a:avLst/></a:prstGeom>
        <a:solidFill><a:srgbClr val="0A1120"/></a:solidFill>
      </p:spPr>
      <p:txBody><a:bodyPr/><a:lstStyle/><a:p/></p:txBody>
    </p:sp>
    
        <p:sp>
          <p:nvSpPr><p:cNvPr id="3" name="Header"/><p:cNvSpPr/><p:nvPr/></p:nvSpPr>
          <p:spPr>
            <a:xfrm><a:off x="731520" y="365760"/><a:ext cx="10972800" cy="914400"/></a:xfrm>
            <a:prstGeom prst="rect"><a:avLst/></a:prstGeom>
            <a:noFill/>
            <a:ln><a:noFill/></a:ln>
          </p:spPr>
          <p:txBody>
            <a:bodyPr lIns="0" tIns="0" rIns="0" bIns="0"/>
            <a:lstStyle/>
            
        <a:p>
          <a:r>
            <a:rPr lang="en-US" sz="1050" b="1">
              <a:solidFill><a:srgbClr val="10B981"/></a:solidFill>
              <a:latin typeface="Segoe UI"/>
            </a:rPr>
            <a:t>05 • CYBERSECURITY & DEFENSE-IN-DEPTH</a:t>
          </a:r>
        </a:p>
        
            
        <a:p>
          <a:spcBef><a:spcPts val="200"/></a:spcBef>
          <a:r>
            <a:rPr lang="en-US" sz="2400" b="1">
              <a:solidFill><a:srgbClr val="F8FAFC"/></a:solidFill>
              <a:latin typeface="Segoe UI"/>
            </a:rPr>
            <a:t>Security Hardening & Input Sanitization</a:t>
          </a:r>
        </a:p>
        
          </p:txBody>
        </p:sp>
        
    <p:sp>
      <p:nvSpPr>
        <p:cNvPr id="4" name="Card_4"/>
        <p:cNvSpPr/>
        <p:nvPr/>
      </p:nvSpPr>
      <p:spPr>
        <a:xfrm>
          <a:off x="7315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0B981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🛡️ Deserialization Defense (CWE-502)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The Threat:</a:t>
              </a:r>
              <a:r>
                <a:rPr lang="en-US" sz="1150" b="0">
                  <a:solidFill><a:srgbClr val="94A3B8"/></a:solidFill>
                  <a:latin typeface="Segoe UI"/>
                </a:rPr>
                <a:t> Python pickle / joblib allows arbitrary code execution from malicious model files.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Cryptographic Hash:</a:t>
              </a:r>
              <a:r>
                <a:rPr lang="en-US" sz="1150" b="0">
                  <a:solidFill><a:srgbClr val="94A3B8"/></a:solidFill>
                  <a:latin typeface="Segoe UI"/>
                </a:rPr>
                <a:t> SHA-256 digest computed during training (models/model_checksum.json).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Load-Time Verification:</a:t>
              </a:r>
              <a:r>
                <a:rPr lang="en-US" sz="1150" b="0">
                  <a:solidFill><a:srgbClr val="94A3B8"/></a:solidFill>
                  <a:latin typeface="Segoe UI"/>
                </a:rPr>
                <a:t> SoilPredictor computes hash and aborts if file is altered or tampered.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Path Containment:</a:t>
              </a:r>
              <a:r>
                <a:rPr lang="en-US" sz="1150" b="0">
                  <a:solidFill><a:srgbClr val="94A3B8"/></a:solidFill>
                  <a:latin typeface="Segoe UI"/>
                </a:rPr>
                <a:t> Model loading locked strictly to trusted internal directory.</a:t>
              </a:r>
            </a:p>
            
      </p:txBody>
    </p:sp>
    
    <p:sp>
      <p:nvSpPr>
        <p:cNvPr id="5" name="Card_5"/>
        <p:cNvSpPr/>
        <p:nvPr/>
      </p:nvSpPr>
      <p:spPr>
        <a:xfrm>
          <a:off x="62179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E293B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🔒 Pydantic Validation & Test Suite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Boundary Rules:</a:t>
              </a:r>
              <a:r>
                <a:rPr lang="en-US" sz="1150" b="0">
                  <a:solidFill><a:srgbClr val="94A3B8"/></a:solidFill>
                  <a:latin typeface="Segoe UI"/>
                </a:rPr>
                <a:t> Enforces physical limits (0 ≤ pH ≤ 14, non-negative nutrients, moisture ≤ 100%).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Input Sanitization:</a:t>
              </a:r>
              <a:r>
                <a:rPr lang="en-US" sz="1150" b="0">
                  <a:solidFill><a:srgbClr val="94A3B8"/></a:solidFill>
                  <a:latin typeface="Segoe UI"/>
                </a:rPr>
                <a:t> Blocks text injections, NaNs, and infinite float values.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Automated Test Suite:</a:t>
              </a:r>
              <a:r>
                <a:rPr lang="en-US" sz="1150" b="0">
                  <a:solidFill><a:srgbClr val="94A3B8"/></a:solidFill>
                  <a:latin typeface="Segoe UI"/>
                </a:rPr>
                <a:t> 8 unit tests in pytest verifying boundary rules and tamper detection.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Production Reliability:</a:t>
              </a:r>
              <a:r>
                <a:rPr lang="en-US" sz="1150" b="0">
                  <a:solidFill><a:srgbClr val="94A3B8"/></a:solidFill>
                  <a:latin typeface="Segoe UI"/>
                </a:rPr>
                <a:t> Ensures model never receives corrupted numerical arrays.</a:t>
              </a:r>
            </a:p>
            
      </p:txBody>
    </p:sp>
    
        </p:spTree>
      </p:cSld>
      <p:clrMapOvr><a:masterClrMapping/></p:clrMapOvr>
    </p:sld>
    
</file>

<file path=ppt/slides/slide7.xml><?xml version="1.0" encoding="UTF-8" standalone="yes"?>
    <p:sld xmlns:a="http://schemas.openxmlformats.org/drawingml/2006/main"
           xmlns:r="http://schemas.openxmlformats.org/officeDocument/2006/relationships"
          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
    <p:sp>
      <p:nvSpPr><p:cNvPr id="2" name="Background"/><p:cNvSpPr/><p:nvPr/></p:nvSpPr>
      <p:spPr>
        <a:xfrm><a:off x="0" y="0"/><a:ext cx="12192000" cy="6858000"/></a:xfrm>
        <a:prstGeom prst="rect"><a:avLst/></a:prstGeom>
        <a:solidFill><a:srgbClr val="0A1120"/></a:solidFill>
      </p:spPr>
      <p:txBody><a:bodyPr/><a:lstStyle/><a:p/></p:txBody>
    </p:sp>
    
        <p:sp>
          <p:nvSpPr><p:cNvPr id="3" name="Header"/><p:cNvSpPr/><p:nvPr/></p:nvSpPr>
          <p:spPr>
            <a:xfrm><a:off x="731520" y="365760"/><a:ext cx="10972800" cy="914400"/></a:xfrm>
            <a:prstGeom prst="rect"><a:avLst/></a:prstGeom>
            <a:noFill/>
            <a:ln><a:noFill/></a:ln>
          </p:spPr>
          <p:txBody>
            <a:bodyPr lIns="0" tIns="0" rIns="0" bIns="0"/>
            <a:lstStyle/>
            
        <a:p>
          <a:r>
            <a:rPr lang="en-US" sz="1050" b="1">
              <a:solidFill><a:srgbClr val="10B981"/></a:solidFill>
              <a:latin typeface="Segoe UI"/>
            </a:rPr>
            <a:t>06 • FRONTEND ARCHITECTURE & UX</a:t>
          </a:r>
        </a:p>
        
            
        <a:p>
          <a:spcBef><a:spcPts val="200"/></a:spcBef>
          <a:r>
            <a:rPr lang="en-US" sz="2400" b="1">
              <a:solidFill><a:srgbClr val="F8FAFC"/></a:solidFill>
              <a:latin typeface="Segoe UI"/>
            </a:rPr>
            <a:t>Modern Agritech Bento-Grid Interface</a:t>
          </a:r>
        </a:p>
        
          </p:txBody>
        </p:sp>
        
    <p:sp>
      <p:nvSpPr>
        <p:cNvPr id="4" name="Card_4"/>
        <p:cNvSpPr/>
        <p:nvPr/>
      </p:nvSpPr>
      <p:spPr>
        <a:xfrm>
          <a:off x="7315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E293B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✨ Responsive Design System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Bento-Grid Architecture:</a:t>
              </a:r>
              <a:r>
                <a:rPr lang="en-US" sz="1150" b="0">
                  <a:solidFill><a:srgbClr val="94A3B8"/></a:solidFill>
                  <a:latin typeface="Segoe UI"/>
                </a:rPr>
                <a:t> Clean modular cards organizing parameters, status, and advisories.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Full-Page Edge-to-Edge:</a:t>
              </a:r>
              <a:r>
                <a:rPr lang="en-US" sz="1150" b="0">
                  <a:solidFill><a:srgbClr val="94A3B8"/></a:solidFill>
                  <a:latin typeface="Segoe UI"/>
                </a:rPr>
                <a:t> 98% wide-screen view eliminating narrow side margins.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Mobile-Ready Grid:</a:t>
              </a:r>
              <a:r>
                <a:rPr lang="en-US" sz="1150" b="0">
                  <a:solidFill><a:srgbClr val="94A3B8"/></a:solidFill>
                  <a:latin typeface="Segoe UI"/>
                </a:rPr>
                <a:t> Parameter Health Matrix flexes from 8 cards to 2 columns on phones.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Visual Fertility Badges:</a:t>
              </a:r>
              <a:r>
                <a:rPr lang="en-US" sz="1150" b="0">
                  <a:solidFill><a:srgbClr val="94A3B8"/></a:solidFill>
                  <a:latin typeface="Segoe UI"/>
                </a:rPr>
                <a:t> High-impact glowing cards (🟢 High, 🟡 Medium, 🔴 Low).</a:t>
              </a:r>
            </a:p>
            
      </p:txBody>
    </p:sp>
    
    <p:sp>
      <p:nvSpPr>
        <p:cNvPr id="5" name="Card_5"/>
        <p:cNvSpPr/>
        <p:nvPr/>
      </p:nvSpPr>
      <p:spPr>
        <a:xfrm>
          <a:off x="62179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0B981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🌾 Interactive Platform Tools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Regional Archetype Presets:</a:t>
              </a:r>
              <a:r>
                <a:rPr lang="en-US" sz="1150" b="0">
                  <a:solidFill><a:srgbClr val="94A3B8"/></a:solidFill>
                  <a:latin typeface="Segoe UI"/>
                </a:rPr>
                <a:t> 1-click loading for Alluvial, Black Cotton, Laterite, and Saline soils.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Parameter Health Matrix:</a:t>
              </a:r>
              <a:r>
                <a:rPr lang="en-US" sz="1150" b="0">
                  <a:solidFill><a:srgbClr val="94A3B8"/></a:solidFill>
                  <a:latin typeface="Segoe UI"/>
                </a:rPr>
                <a:t> Compares live input values directly against ICAR reference bands.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Prescriptive Guidance:</a:t>
              </a:r>
              <a:r>
                <a:rPr lang="en-US" sz="1150" b="0">
                  <a:solidFill><a:srgbClr val="94A3B8"/></a:solidFill>
                  <a:latin typeface="Segoe UI"/>
                </a:rPr>
                <a:t> Actionable advice (e.g. lime for acidity, gypsum for sodicity, FYM for N).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Batch CSV Screening:</a:t>
              </a:r>
              <a:r>
                <a:rPr lang="en-US" sz="1150" b="0">
                  <a:solidFill><a:srgbClr val="94A3B8"/></a:solidFill>
                  <a:latin typeface="Segoe UI"/>
                </a:rPr>
                <a:t> Multi-sample file uploader with downloadable diagnostic reports.</a:t>
              </a:r>
            </a:p>
            
      </p:txBody>
    </p:sp>
    
        </p:spTree>
      </p:cSld>
      <p:clrMapOvr><a:masterClrMapping/></p:clrMapOvr>
    </p:sld>
    
</file>

<file path=ppt/slides/slide8.xml><?xml version="1.0" encoding="UTF-8" standalone="yes"?>
    <p:sld xmlns:a="http://schemas.openxmlformats.org/drawingml/2006/main"
           xmlns:r="http://schemas.openxmlformats.org/officeDocument/2006/relationships"
          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
    <p:sp>
      <p:nvSpPr><p:cNvPr id="2" name="Background"/><p:cNvSpPr/><p:nvPr/></p:nvSpPr>
      <p:spPr>
        <a:xfrm><a:off x="0" y="0"/><a:ext cx="12192000" cy="6858000"/></a:xfrm>
        <a:prstGeom prst="rect"><a:avLst/></a:prstGeom>
        <a:solidFill><a:srgbClr val="0A1120"/></a:solidFill>
      </p:spPr>
      <p:txBody><a:bodyPr/><a:lstStyle/><a:p/></p:txBody>
    </p:sp>
    
        <p:sp>
          <p:nvSpPr><p:cNvPr id="3" name="Header"/><p:cNvSpPr/><p:nvPr/></p:nvSpPr>
          <p:spPr>
            <a:xfrm><a:off x="731520" y="365760"/><a:ext cx="10972800" cy="914400"/></a:xfrm>
            <a:prstGeom prst="rect"><a:avLst/></a:prstGeom>
            <a:noFill/>
            <a:ln><a:noFill/></a:ln>
          </p:spPr>
          <p:txBody>
            <a:bodyPr lIns="0" tIns="0" rIns="0" bIns="0"/>
            <a:lstStyle/>
            
        <a:p>
          <a:r>
            <a:rPr lang="en-US" sz="1050" b="1">
              <a:solidFill><a:srgbClr val="10B981"/></a:solidFill>
              <a:latin typeface="Segoe UI"/>
            </a:rPr>
            <a:t>07 • PROJECT CONCLUSION & ROADMAP</a:t>
          </a:r>
        </a:p>
        
            
        <a:p>
          <a:spcBef><a:spcPts val="200"/></a:spcBef>
          <a:r>
            <a:rPr lang="en-US" sz="2400" b="1">
              <a:solidFill><a:srgbClr val="F8FAFC"/></a:solidFill>
              <a:latin typeface="Segoe UI"/>
            </a:rPr>
            <a:t>Deliverables & Future Scope</a:t>
          </a:r>
        </a:p>
        
          </p:txBody>
        </p:sp>
        
    <p:sp>
      <p:nvSpPr>
        <p:cNvPr id="4" name="Card_4"/>
        <p:cNvSpPr/>
        <p:nvPr/>
      </p:nvSpPr>
      <p:spPr>
        <a:xfrm>
          <a:off x="7315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E293B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📌 Key Deliverables Achieved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Trained ML Pipeline:</a:t>
              </a:r>
              <a:r>
                <a:rPr lang="en-US" sz="1150" b="0">
                  <a:solidFill><a:srgbClr val="94A3B8"/></a:solidFill>
                  <a:latin typeface="Segoe UI"/>
                </a:rPr>
                <a:t> High-performance supervised classifier with 100% test F1-score.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Security-Hardened:</a:t>
              </a:r>
              <a:r>
                <a:rPr lang="en-US" sz="1150" b="0">
                  <a:solidFill><a:srgbClr val="94A3B8"/></a:solidFill>
                  <a:latin typeface="Segoe UI"/>
                </a:rPr>
                <a:t> SHA-256 model signature and Pydantic boundary validation.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Cloud Deployment:</a:t>
              </a:r>
              <a:r>
                <a:rPr lang="en-US" sz="1150" b="0">
                  <a:solidFill><a:srgbClr val="94A3B8"/></a:solidFill>
                  <a:latin typeface="Segoe UI"/>
                </a:rPr>
                <a:t> Running live on Streamlit Community Cloud (omvs077/soil-sense).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Comprehensive Docs:</a:t>
              </a:r>
              <a:r>
                <a:rPr lang="en-US" sz="1150" b="0">
                  <a:solidFill><a:srgbClr val="94A3B8"/></a:solidFill>
                  <a:latin typeface="Segoe UI"/>
                </a:rPr>
                <a:t> Architectural specifications, agronomic standards, and viva guides in docs/.</a:t>
              </a:r>
            </a:p>
            
      </p:txBody>
    </p:sp>
    
    <p:sp>
      <p:nvSpPr>
        <p:cNvPr id="5" name="Card_5"/>
        <p:cNvSpPr/>
        <p:nvPr/>
      </p:nvSpPr>
      <p:spPr>
        <a:xfrm>
          <a:off x="6217920" y="1554480"/>
          <a:ext cx="5212080" cy="4572000"/>
        </a:xfrm>
        <a:prstGeom prst="roundRect">
          <a:avLst><a:gd name="adj" fmla="val 2000"/></a:avLst>
        </a:prstGeom>
        <a:solidFill><a:srgbClr val="111A2E"/></a:solidFill>
        <a:ln w="19050"><a:solidFill><a:srgbClr val="10B981"/></a:solidFill></a:ln>
      </p:spPr>
      <p:txBody>
        <a:bodyPr tIns="144000" bIns="144000" lIns="180000" rIns="180000" anchor="t"/>
        <a:lstStyle/>
        
        <a:p>
          <a:pPr algn="l">
            <a:spcBef><a:spcPts val="0"/></a:spcBef>
            <a:spcAft><a:spcPts val="600"/></a:spcAft>
          </a:pPr>
          <a:r>
            <a:rPr lang="en-US" sz="1500" b="1">
              <a:solidFill><a:srgbClr val="38BDF8"/></a:solidFill>
              <a:latin typeface="Segoe UI"/>
            </a:rPr>
            <a:t>🚀 Future Research Scope</a:t>
          </a:r>
        </a:p>
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Wireless IoT Probes:</a:t>
              </a:r>
              <a:r>
                <a:rPr lang="en-US" sz="1150" b="0">
                  <a:solidFill><a:srgbClr val="94A3B8"/></a:solidFill>
                  <a:latin typeface="Segoe UI"/>
                </a:rPr>
                <a:t> Real-time telemetry via ESP32 / LoRaWAN NPK and moisture sensors.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Satellite GIS Integration:</a:t>
              </a:r>
              <a:r>
                <a:rPr lang="en-US" sz="1150" b="0">
                  <a:solidFill><a:srgbClr val="94A3B8"/></a:solidFill>
                  <a:latin typeface="Segoe UI"/>
                </a:rPr>
                <a:t> Fusing Sentinel-2 multispectral surface reflectance and NDVI data.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Crop-Specific Recommendations:</a:t>
              </a:r>
              <a:r>
                <a:rPr lang="en-US" sz="1150" b="0">
                  <a:solidFill><a:srgbClr val="94A3B8"/></a:solidFill>
                  <a:latin typeface="Segoe UI"/>
                </a:rPr>
                <a:t> Tailoring fertilizer recommendations to crop nutrient demand curves.</a:t>
              </a:r>
            </a:p>
            
            <a:p>
              <a:pPr algn="l" lvl="0" marL="288000" indent="-288000">
                <a:buClr><a:srgbClr val="10B981"/></a:buClr>
                <a:buChar char="•"/>
                <a:spcBef><a:spcPts val="450"/></a:spcBef>
              </a:pPr>
              <a:r>
                <a:rPr lang="en-US" sz="1150" b="1">
                  <a:solidFill><a:srgbClr val="F8FAFC"/></a:solidFill>
                  <a:latin typeface="Segoe UI"/>
                </a:rPr>
                <a:t>Micronutrient Assays:</a:t>
              </a:r>
              <a:r>
                <a:rPr lang="en-US" sz="1150" b="0">
                  <a:solidFill><a:srgbClr val="94A3B8"/></a:solidFill>
                  <a:latin typeface="Segoe UI"/>
                </a:rPr>
                <a:t> Expanding model features to include Zinc, Iron, and Organic Carbon.</a:t>
              </a:r>
            </a:p>
            
      </p:txBody>
    </p:sp>
    
        </p:spTree>
      </p:cSld>
      <p:clrMapOvr><a:masterClrMapping/></p:clrMapOvr>
    </p:sld>
    
</file>

<file path=ppt/theme/theme1.xml><?xml version="1.0" encoding="utf-8"?>
<a:theme xmlns:a="http://schemas.openxmlformats.org/drawingml/2006/main" name="SoilSenseDark">
  <a:themeElements>
    <a:clrScheme name="SoilSense">
      <a:dk1>
        <a:srgbClr val="0A1120"/>
      </a:dk1>
      <a:lt1>
        <a:srgbClr val="F8FAFC"/>
      </a:lt1>
      <a:dk2>
        <a:srgbClr val="111A2E"/>
      </a:dk2>
      <a:lt2>
        <a:srgbClr val="94A3B8"/>
      </a:lt2>
      <a:accent1>
        <a:srgbClr val="10B981"/>
      </a:accent1>
      <a:accent2>
        <a:srgbClr val="38BDF8"/>
      </a:accent2>
      <a:accent3>
        <a:srgbClr val="F59E0B"/>
      </a:accent3>
      <a:accent4>
        <a:srgbClr val="EF4444"/>
      </a:accent4>
      <a:accent5>
        <a:srgbClr val="8B5CF6"/>
      </a:accent5>
      <a:accent6>
        <a:srgbClr val="EC4899"/>
      </a:accent6>
      <a:hlink>
        <a:srgbClr val="38BDF8"/>
      </a:hlink>
      <a:folHlink>
        <a:srgbClr val="10B981"/>
      </a:folHlink>
    </a:clrScheme>
    <a:fontScheme name="PlusJakarta">
      <a:majorFont>
        <a:latin typeface="Segoe UI"/>
      </a:majorFont>
      <a:minorFont>
        <a:latin typeface="Segoe UI"/>
      </a:minorFont>
    </a:fontScheme>
    <a:fmtScheme name="Office">
      <a:fillStyleLst>
        <a:solidFill>
          <a:srgbClr val="111A2E"/>
        </a:solidFill>
      </a:fillStyleLst>
      <a:lnStyleLst>
        <a:ln w="9525">
          <a:solidFill>
            <a:srgbClr val="1E293B"/>
          </a:solidFill>
        </a:ln>
      </a:lnStyleLst>
      <a:effectStyleLst>
        <a:effectStyle>
          <a:effectLst/>
        </a:effectStyle>
      </a:effectStyleLst>
      <a:bgFillStyleLst>
        <a:solidFill>
          <a:srgbClr val="0A1120"/>
        </a:solidFill>
      </a:bgFillStyleLst>
    </a:fmtScheme>
  </a:themeElements>
</a:theme>
</file>