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940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41906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4176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4784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596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0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9498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7508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8798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220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786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0179E-61FA-4A23-BB62-4A8D720A7D98}" type="datetimeFigureOut">
              <a:rPr lang="en-IN" smtClean="0"/>
              <a:t>14-10-2026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213905-2CF3-41D5-A5F0-4B15FC18E0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5318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file:///D:\My%20projects\Soil-sense\reports\figures\confusion_matrix.png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3200" cy="68580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889000" y="952500"/>
            <a:ext cx="3810000" cy="3302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smtClean="0">
                <a:solidFill>
                  <a:srgbClr val="059B46"/>
                </a:solidFill>
                <a:latin typeface="Calibri" panose="020F0502020204030204" pitchFamily="34" charset="0"/>
              </a:rPr>
              <a:t>PROJECT REVIEW - I | ACADEMIC EVALUATION</a:t>
            </a:r>
            <a:endParaRPr lang="en-IN" sz="10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5500" y="1460500"/>
            <a:ext cx="10414000" cy="113877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 smtClean="0">
                <a:solidFill>
                  <a:srgbClr val="0F2450"/>
                </a:solidFill>
                <a:latin typeface="Calibri" panose="020F0502020204030204" pitchFamily="34" charset="0"/>
              </a:rPr>
              <a:t>SOIL-SENSE
AI-Driven Soil Fertility Prediction System</a:t>
            </a:r>
            <a:endParaRPr lang="en-IN" sz="34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3600" y="2921000"/>
            <a:ext cx="10414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smtClean="0">
                <a:solidFill>
                  <a:srgbClr val="8B7464"/>
                </a:solidFill>
                <a:latin typeface="Calibri" panose="020F0502020204030204" pitchFamily="34" charset="0"/>
              </a:rPr>
              <a:t>Multi-Class Physicochemical Soil Quality Assessment with Zero Data Leakage
and Cryptographic Pickle Hardening (CWE-502 Mitigation)</a:t>
            </a:r>
            <a:endParaRPr lang="en-IN" sz="1500">
              <a:solidFill>
                <a:srgbClr val="8B7464"/>
              </a:solidFill>
              <a:latin typeface="Calibri" panose="020F050202020403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89000" y="4318000"/>
            <a:ext cx="10414000" cy="1651000"/>
          </a:xfrm>
          <a:prstGeom prst="rect">
            <a:avLst/>
          </a:prstGeom>
          <a:solidFill>
            <a:srgbClr val="FFFFFF"/>
          </a:solidFill>
          <a:ln w="1905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1143000" y="4508500"/>
            <a:ext cx="9906000" cy="89255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 smtClean="0">
                <a:solidFill>
                  <a:srgbClr val="3B291E"/>
                </a:solidFill>
                <a:latin typeface="Calibri" panose="020F0502020204030204" pitchFamily="34" charset="0"/>
              </a:rPr>
              <a:t>Target Domain: Precision Agriculture and Machine Learning
</a:t>
            </a:r>
            <a:r>
              <a:rPr lang="en-IN" sz="1300" smtClean="0">
                <a:solidFill>
                  <a:srgbClr val="3B291E"/>
                </a:solidFill>
                <a:latin typeface="Calibri" panose="020F0502020204030204" pitchFamily="34" charset="0"/>
              </a:rPr>
              <a:t>Architecture: Scikit-Learn Pipeline | Streamlit Real-Time Dashboard | ICAR / FAO Compliant
Security Assurance: SHA-256 Model Integrity Verification and Strict Pydantic v2 Bounds
Review Phase: Problem Formulation, Dataset Engineering, Baseline Model Benchmark</a:t>
            </a:r>
            <a:endParaRPr lang="en-IN" sz="130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3246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US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REVIEW PHASE 1: CONTEXT &amp; CHALLENGES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Problem Statement &amp; Industry Motivation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34925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000" y="1397000"/>
            <a:ext cx="3492500" cy="50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5500" y="1587500"/>
            <a:ext cx="3111500" cy="258532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smtClean="0">
                <a:solidFill>
                  <a:srgbClr val="059B46"/>
                </a:solidFill>
              </a:rPr>
              <a:t>01
Traditional Lab Delays
Conventional laboratory soil testing (wet chemistry) takes 10 to 14 days, preventing timely fertilizer intervention during active sowing windows.</a:t>
            </a:r>
            <a:endParaRPr lang="en-IN" b="1">
              <a:solidFill>
                <a:srgbClr val="059B46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81500" y="1397000"/>
            <a:ext cx="34925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381500" y="1397000"/>
            <a:ext cx="3492500" cy="50800"/>
          </a:xfrm>
          <a:prstGeom prst="rect">
            <a:avLst/>
          </a:prstGeom>
          <a:solidFill>
            <a:srgbClr val="0F24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572000" y="1587500"/>
            <a:ext cx="31115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smtClean="0">
                <a:solidFill>
                  <a:srgbClr val="059B46"/>
                </a:solidFill>
              </a:rPr>
              <a:t>02
Indiscriminate NPK Overuse
Lack of rapid testing leads farmers to apply generic urea/DAP regimens, causing soil acidification, salinization, and severe groundwater contamination.</a:t>
            </a:r>
            <a:endParaRPr lang="en-IN" b="1">
              <a:solidFill>
                <a:srgbClr val="059B46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28000" y="1397000"/>
            <a:ext cx="34925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128000" y="1397000"/>
            <a:ext cx="3492500" cy="50800"/>
          </a:xfrm>
          <a:prstGeom prst="rect">
            <a:avLst/>
          </a:prstGeom>
          <a:solidFill>
            <a:srgbClr val="333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318500" y="1587500"/>
            <a:ext cx="3111500" cy="286232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b="1" smtClean="0">
                <a:solidFill>
                  <a:srgbClr val="059B46"/>
                </a:solidFill>
              </a:rPr>
              <a:t>03
Insecure &amp; Leaky ML Systems
Generic AI tutorials demonstrate unscaled features, preprocessing leakage, and unverified pickle imports prone to CWE-502 arbitrary code execution.</a:t>
            </a:r>
            <a:endParaRPr lang="en-IN" b="1">
              <a:solidFill>
                <a:srgbClr val="059B46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000" y="4635500"/>
            <a:ext cx="10985500" cy="1524000"/>
          </a:xfrm>
          <a:prstGeom prst="rect">
            <a:avLst/>
          </a:prstGeom>
          <a:solidFill>
            <a:srgbClr val="F1F9EE"/>
          </a:solidFill>
          <a:ln w="12700">
            <a:solidFill>
              <a:srgbClr val="059B4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89000" y="4762500"/>
            <a:ext cx="104775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00" b="1" smtClean="0">
                <a:solidFill>
                  <a:srgbClr val="0F2450"/>
                </a:solidFill>
                <a:latin typeface="Calibri" panose="020F0502020204030204" pitchFamily="34" charset="0"/>
              </a:rPr>
              <a:t>National Agricultural Impact:
</a:t>
            </a:r>
            <a:r>
              <a:rPr lang="en-US" sz="1300" smtClean="0">
                <a:solidFill>
                  <a:srgbClr val="0F2450"/>
                </a:solidFill>
                <a:latin typeface="Calibri" panose="020F0502020204030204" pitchFamily="34" charset="0"/>
              </a:rPr>
              <a:t>According to ICAR and FAO surveys, timely precision NPK diagnosis improves crop yield by 18-24% while reducing chemical input costs by up to 30%. Soil-Sense bridges the diagnostic gap through instant multi-class fertility classification.</a:t>
            </a:r>
            <a:endParaRPr lang="en-IN" sz="1300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198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SYSTEM SCOPE &amp; FUNCTIONAL GOALS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Project Objectives &amp; Core Deliverables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10985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825500" y="1600200"/>
            <a:ext cx="406400" cy="406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smtClean="0">
                <a:solidFill>
                  <a:srgbClr val="059B46"/>
                </a:solidFill>
              </a:rPr>
              <a:t>1</a:t>
            </a:r>
            <a:endParaRPr lang="en-IN" sz="1300" b="1">
              <a:solidFill>
                <a:srgbClr val="059B46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0500" y="1524000"/>
            <a:ext cx="9906000" cy="28469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 smtClean="0">
                <a:solidFill>
                  <a:srgbClr val="3B291E"/>
                </a:solidFill>
                <a:latin typeface="Calibri" panose="020F0502020204030204" pitchFamily="34" charset="0"/>
              </a:rPr>
              <a:t>Multi-Parameter </a:t>
            </a:r>
            <a:r>
              <a:rPr lang="en-US" sz="1250" smtClean="0">
                <a:solidFill>
                  <a:srgbClr val="3B291E"/>
                </a:solidFill>
                <a:latin typeface="Calibri" panose="020F0502020204030204" pitchFamily="34" charset="0"/>
              </a:rPr>
              <a:t>Classification: Predict overall Soil Fertility into Low, Medium, or High tiers from 8 soil and weather parameters without delay.</a:t>
            </a:r>
            <a:endParaRPr lang="en-IN" sz="125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0" y="2349500"/>
            <a:ext cx="10985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25500" y="2552700"/>
            <a:ext cx="406400" cy="406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smtClean="0">
                <a:solidFill>
                  <a:srgbClr val="059B46"/>
                </a:solidFill>
              </a:rPr>
              <a:t>2</a:t>
            </a:r>
            <a:endParaRPr lang="en-IN" sz="1300" b="1">
              <a:solidFill>
                <a:srgbClr val="059B46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0500" y="2476500"/>
            <a:ext cx="990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 smtClean="0">
                <a:solidFill>
                  <a:srgbClr val="3B291E"/>
                </a:solidFill>
                <a:latin typeface="Calibri" panose="020F0502020204030204" pitchFamily="34" charset="0"/>
              </a:rPr>
              <a:t>Strict </a:t>
            </a:r>
            <a:r>
              <a:rPr lang="en-US" sz="1250" smtClean="0">
                <a:solidFill>
                  <a:srgbClr val="3B291E"/>
                </a:solidFill>
                <a:latin typeface="Calibri" panose="020F0502020204030204" pitchFamily="34" charset="0"/>
              </a:rPr>
              <a:t>Data Leakage Prevention: Encapsulate standard scaling and ML classifiers strictly inside Scikit-Learn Pipelines so test folds remain uncompromised.</a:t>
            </a:r>
            <a:endParaRPr lang="en-IN" sz="125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000" y="3302000"/>
            <a:ext cx="10985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5500" y="3505200"/>
            <a:ext cx="406400" cy="406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smtClean="0">
                <a:solidFill>
                  <a:srgbClr val="059B46"/>
                </a:solidFill>
              </a:rPr>
              <a:t>3</a:t>
            </a:r>
            <a:endParaRPr lang="en-IN" sz="1300" b="1">
              <a:solidFill>
                <a:srgbClr val="059B4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0500" y="3429000"/>
            <a:ext cx="990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 smtClean="0">
                <a:solidFill>
                  <a:srgbClr val="3B291E"/>
                </a:solidFill>
                <a:latin typeface="Calibri" panose="020F0502020204030204" pitchFamily="34" charset="0"/>
              </a:rPr>
              <a:t>Prescriptive </a:t>
            </a:r>
            <a:r>
              <a:rPr lang="en-US" sz="1250" smtClean="0">
                <a:solidFill>
                  <a:srgbClr val="3B291E"/>
                </a:solidFill>
                <a:latin typeface="Calibri" panose="020F0502020204030204" pitchFamily="34" charset="0"/>
              </a:rPr>
              <a:t>Agronomic Guidance: Map ML diagnostic results into actionable ICAR/FAO fertilizer advisory rules for balanced organic and chemical soil replenishment.</a:t>
            </a:r>
            <a:endParaRPr lang="en-IN" sz="125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000" y="4254500"/>
            <a:ext cx="10985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825500" y="4457700"/>
            <a:ext cx="406400" cy="406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smtClean="0">
                <a:solidFill>
                  <a:srgbClr val="059B46"/>
                </a:solidFill>
              </a:rPr>
              <a:t>4</a:t>
            </a:r>
            <a:endParaRPr lang="en-IN" sz="1300" b="1">
              <a:solidFill>
                <a:srgbClr val="059B4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0500" y="4381500"/>
            <a:ext cx="990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 smtClean="0">
                <a:solidFill>
                  <a:srgbClr val="3B291E"/>
                </a:solidFill>
                <a:latin typeface="Calibri" panose="020F0502020204030204" pitchFamily="34" charset="0"/>
              </a:rPr>
              <a:t>CWE-502 </a:t>
            </a:r>
            <a:r>
              <a:rPr lang="en-US" sz="1250" smtClean="0">
                <a:solidFill>
                  <a:srgbClr val="3B291E"/>
                </a:solidFill>
                <a:latin typeface="Calibri" panose="020F0502020204030204" pitchFamily="34" charset="0"/>
              </a:rPr>
              <a:t>Defense Architecture: Implement automated SHA-256 cryptographic checksum matching before loading serialized joblib models into production memory.</a:t>
            </a:r>
            <a:endParaRPr lang="en-IN" sz="125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5000" y="5207000"/>
            <a:ext cx="10985500" cy="825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825500" y="5410200"/>
            <a:ext cx="406400" cy="406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b="1" smtClean="0">
                <a:solidFill>
                  <a:srgbClr val="059B46"/>
                </a:solidFill>
              </a:rPr>
              <a:t>5</a:t>
            </a:r>
            <a:endParaRPr lang="en-IN" sz="1300" b="1">
              <a:solidFill>
                <a:srgbClr val="059B4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0500" y="5334000"/>
            <a:ext cx="9906000" cy="4770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250" b="1" smtClean="0">
                <a:solidFill>
                  <a:srgbClr val="3B291E"/>
                </a:solidFill>
                <a:latin typeface="Calibri" panose="020F0502020204030204" pitchFamily="34" charset="0"/>
              </a:rPr>
              <a:t>High-Throughput </a:t>
            </a:r>
            <a:r>
              <a:rPr lang="en-US" sz="1250" smtClean="0">
                <a:solidFill>
                  <a:srgbClr val="3B291E"/>
                </a:solidFill>
                <a:latin typeface="Calibri" panose="020F0502020204030204" pitchFamily="34" charset="0"/>
              </a:rPr>
              <a:t>Batch Processing: Provide real-time interactive screening alongside bulk multi-sample CSV batch scoring with automated visual summaries.</a:t>
            </a:r>
            <a:endParaRPr lang="en-IN" sz="125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240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SYSTEM DESIGN &amp; ENVIRONMENT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Technology Stack &amp; Modular Architecture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5334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000" y="1397000"/>
            <a:ext cx="5334000" cy="50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4826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 smtClean="0">
                <a:solidFill>
                  <a:srgbClr val="0F2450"/>
                </a:solidFill>
              </a:rPr>
              <a:t>Core Machine Learning
Python 3.12 / 3.14
Scikit-Learn 1.6+
Joblib Pipeline Serialization
KNN &amp; Random Forest Classifiers</a:t>
            </a:r>
            <a:endParaRPr lang="en-IN" sz="1600" b="1">
              <a:solidFill>
                <a:srgbClr val="0F24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86500" y="1397000"/>
            <a:ext cx="5334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286500" y="1397000"/>
            <a:ext cx="5334000" cy="50800"/>
          </a:xfrm>
          <a:prstGeom prst="rect">
            <a:avLst/>
          </a:prstGeom>
          <a:solidFill>
            <a:srgbClr val="0F24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540500" y="1587500"/>
            <a:ext cx="4826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 smtClean="0">
                <a:solidFill>
                  <a:srgbClr val="0F2450"/>
                </a:solidFill>
              </a:rPr>
              <a:t>Data Engineering &amp; Validation
Pydantic v2 Schema Enforcement
Pandas 2.2 Dataframes
NumPy 2.0 Numerical Ops
ICAR/FAO Boundary Enforcement</a:t>
            </a:r>
            <a:endParaRPr lang="en-IN" sz="1600" b="1">
              <a:solidFill>
                <a:srgbClr val="0F24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000" y="3873500"/>
            <a:ext cx="5334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635000" y="3873500"/>
            <a:ext cx="5334000" cy="50800"/>
          </a:xfrm>
          <a:prstGeom prst="rect">
            <a:avLst/>
          </a:prstGeom>
          <a:solidFill>
            <a:srgbClr val="0F24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89000" y="4064000"/>
            <a:ext cx="4826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 smtClean="0">
                <a:solidFill>
                  <a:srgbClr val="0F2450"/>
                </a:solidFill>
              </a:rPr>
              <a:t>Interactive Frontend UX
Streamlit Framework
Edge-to-Edge Responsive CSS Grid
Real-time Gauge Indicators
Bento-Card Visual Structure</a:t>
            </a:r>
            <a:endParaRPr lang="en-IN" sz="1600" b="1">
              <a:solidFill>
                <a:srgbClr val="0F245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86500" y="3873500"/>
            <a:ext cx="5334000" cy="2222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6286500" y="3873500"/>
            <a:ext cx="5334000" cy="50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6540500" y="4064000"/>
            <a:ext cx="4826000" cy="15696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 b="1" smtClean="0">
                <a:solidFill>
                  <a:srgbClr val="0F2450"/>
                </a:solidFill>
              </a:rPr>
              <a:t>DevOps &amp; Production Security
C: Drive Bloat Protection
SHA-256 Integrity Verification
Pytest Rigorous Test Suite
Automated Git Tracking &amp; Docs</a:t>
            </a:r>
            <a:endParaRPr lang="en-IN" sz="1600" b="1">
              <a:solidFill>
                <a:srgbClr val="0F2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7898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DATA ENGINEERING &amp; STANDARDS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Dataset Features &amp; Physicochemical Ranges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2465175"/>
              </p:ext>
            </p:extLst>
          </p:nvPr>
        </p:nvGraphicFramePr>
        <p:xfrm>
          <a:off x="635000" y="1333500"/>
          <a:ext cx="10922000" cy="482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397000"/>
                <a:gridCol w="1524000"/>
                <a:gridCol w="6223000"/>
              </a:tblGrid>
              <a:tr h="536222">
                <a:tc>
                  <a:txBody>
                    <a:bodyPr/>
                    <a:lstStyle/>
                    <a:p>
                      <a:r>
                        <a:rPr lang="en-IN" sz="110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Parameter</a:t>
                      </a:r>
                      <a:endParaRPr lang="en-IN" sz="1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Feature Name</a:t>
                      </a:r>
                      <a:endParaRPr lang="en-IN" sz="1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Valid Range</a:t>
                      </a:r>
                      <a:endParaRPr lang="en-IN" sz="1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10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Agronomic Role</a:t>
                      </a:r>
                      <a:endParaRPr lang="en-IN" sz="110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0F2450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Nitrogen (N)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N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0 - 140 mg/kg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Vegetative growth and chlorophyll synthesis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Phosphorus (P)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P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5 - 145 mg/kg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Root architecture and energy transfer (ATP)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Potassium (K)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K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5 - 205 mg/kg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Osmoregulation and disease resistance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Soil pH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pH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3.5 - 9.5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Nutrient bioavailability and microbial flora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Electrical Cond.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EC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0.0 - 4.0 dS/m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Soil salinity index and osmotic pressure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Moisture Content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Moisture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0 - 100 %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Solvent availability and root uptake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Temperature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Temperature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8 - 50 °C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Biological metabolic rate and evaporation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536222"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Air Humidity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Humidity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10 - 100 %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Vapor pressure deficit and transpiration</a:t>
                      </a:r>
                      <a:endParaRPr lang="en-IN" sz="105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 marL="76200" marR="76200" marT="38100" marB="38100">
                    <a:solidFill>
                      <a:srgbClr val="F9F5F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0128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MACHINE LEARNING PIPELINE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Proposed Methodology &amp; Pipeline Workflow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10985500" cy="825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825500" y="1587500"/>
            <a:ext cx="431800" cy="431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mtClean="0">
                <a:solidFill>
                  <a:srgbClr val="FFFFFF"/>
                </a:solidFill>
              </a:rPr>
              <a:t>1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0500" y="1524000"/>
            <a:ext cx="9906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 smtClean="0">
                <a:solidFill>
                  <a:srgbClr val="0F2450"/>
                </a:solidFill>
              </a:rPr>
              <a:t>1. Data Ingestion &amp; Sanitization
Pydantic v2 schemas rigorously validate feature boundaries, rejecting out-of-bound or corrupted sensor inputs.</a:t>
            </a:r>
            <a:endParaRPr lang="en-IN" sz="1350" b="1">
              <a:solidFill>
                <a:srgbClr val="0F24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5000" y="2349500"/>
            <a:ext cx="10985500" cy="825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25500" y="2540000"/>
            <a:ext cx="431800" cy="431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mtClean="0">
                <a:solidFill>
                  <a:srgbClr val="FFFFFF"/>
                </a:solidFill>
              </a:rPr>
              <a:t>2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60500" y="2476500"/>
            <a:ext cx="9906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 smtClean="0">
                <a:solidFill>
                  <a:srgbClr val="0F2450"/>
                </a:solidFill>
              </a:rPr>
              <a:t>2. Leak-Free Preprocessing
StandardScaler transformations are strictly bound inside an active Scikit-Learn Pipeline during CV fit.</a:t>
            </a:r>
            <a:endParaRPr lang="en-IN" sz="1350" b="1">
              <a:solidFill>
                <a:srgbClr val="0F24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000" y="3302000"/>
            <a:ext cx="10985500" cy="825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825500" y="3492500"/>
            <a:ext cx="431800" cy="431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mtClean="0">
                <a:solidFill>
                  <a:srgbClr val="FFFFFF"/>
                </a:solidFill>
              </a:rPr>
              <a:t>3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60500" y="3429000"/>
            <a:ext cx="9906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 smtClean="0">
                <a:solidFill>
                  <a:srgbClr val="0F2450"/>
                </a:solidFill>
              </a:rPr>
              <a:t>3. Model Benchmarking
Evaluation of Decision Tree, K-Nearest Neighbors, and Random Forest models using stratified 5-fold cross-validation.</a:t>
            </a:r>
            <a:endParaRPr lang="en-IN" sz="1350" b="1">
              <a:solidFill>
                <a:srgbClr val="0F245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000" y="4254500"/>
            <a:ext cx="10985500" cy="825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825500" y="4445000"/>
            <a:ext cx="431800" cy="431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mtClean="0">
                <a:solidFill>
                  <a:srgbClr val="FFFFFF"/>
                </a:solidFill>
              </a:rPr>
              <a:t>4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60500" y="4381500"/>
            <a:ext cx="9906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 smtClean="0">
                <a:solidFill>
                  <a:srgbClr val="0F2450"/>
                </a:solidFill>
              </a:rPr>
              <a:t>4. Cryptographic Model Packaging
Pipeline serialization with companion SHA-256 hash generation for tamper-evident production deployment.</a:t>
            </a:r>
            <a:endParaRPr lang="en-IN" sz="1350" b="1">
              <a:solidFill>
                <a:srgbClr val="0F2450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5000" y="5207000"/>
            <a:ext cx="10985500" cy="825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 16"/>
          <p:cNvSpPr/>
          <p:nvPr/>
        </p:nvSpPr>
        <p:spPr>
          <a:xfrm>
            <a:off x="825500" y="5397500"/>
            <a:ext cx="431800" cy="431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b="1" smtClean="0">
                <a:solidFill>
                  <a:srgbClr val="FFFFFF"/>
                </a:solidFill>
              </a:rPr>
              <a:t>5</a:t>
            </a:r>
            <a:endParaRPr lang="en-IN" sz="1400" b="1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460500" y="5334000"/>
            <a:ext cx="9906000" cy="5078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350" b="1" smtClean="0">
                <a:solidFill>
                  <a:srgbClr val="0F2450"/>
                </a:solidFill>
              </a:rPr>
              <a:t>5. Diagnostic &amp; Prescriptive UI
Multi-class fertility inference accompanied by ICAR/FAO prescriptive nutrient advisory and visual metrics.</a:t>
            </a:r>
            <a:endParaRPr lang="en-IN" sz="1350" b="1">
              <a:solidFill>
                <a:srgbClr val="0F2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26304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EMPIRICAL EVALUATION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Experimental Results &amp; Model Evaluation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8465863"/>
              </p:ext>
            </p:extLst>
          </p:nvPr>
        </p:nvGraphicFramePr>
        <p:xfrm>
          <a:off x="635000" y="1397000"/>
          <a:ext cx="60960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8000"/>
                <a:gridCol w="1079500"/>
                <a:gridCol w="1079500"/>
                <a:gridCol w="1079500"/>
                <a:gridCol w="1079500"/>
              </a:tblGrid>
              <a:tr h="571500">
                <a:tc>
                  <a:txBody>
                    <a:bodyPr/>
                    <a:lstStyle/>
                    <a:p>
                      <a:r>
                        <a:rPr lang="en-IN" sz="105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Model Architecture</a:t>
                      </a:r>
                      <a:endParaRPr lang="en-IN" sz="10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Accuracy</a:t>
                      </a:r>
                      <a:endParaRPr lang="en-IN" sz="10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Precision</a:t>
                      </a:r>
                      <a:endParaRPr lang="en-IN" sz="10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Recall</a:t>
                      </a:r>
                      <a:endParaRPr lang="en-IN" sz="10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F24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50" b="1" smtClean="0">
                          <a:solidFill>
                            <a:srgbClr val="FFFFFF"/>
                          </a:solidFill>
                          <a:latin typeface="Calibri" panose="020F0502020204030204" pitchFamily="34" charset="0"/>
                        </a:rPr>
                        <a:t>F1-Score</a:t>
                      </a:r>
                      <a:endParaRPr lang="en-IN" sz="1050" b="1">
                        <a:solidFill>
                          <a:srgbClr val="FFFFFF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0F245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IN" sz="1000" b="1" smtClean="0">
                          <a:solidFill>
                            <a:srgbClr val="059B46"/>
                          </a:solidFill>
                          <a:latin typeface="Calibri" panose="020F0502020204030204" pitchFamily="34" charset="0"/>
                        </a:rPr>
                        <a:t>K-Nearest Neighbors</a:t>
                      </a:r>
                      <a:endParaRPr lang="en-IN" sz="1000" b="1">
                        <a:solidFill>
                          <a:srgbClr val="059B46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smtClean="0">
                          <a:solidFill>
                            <a:srgbClr val="059B46"/>
                          </a:solidFill>
                          <a:latin typeface="Calibri" panose="020F0502020204030204" pitchFamily="34" charset="0"/>
                        </a:rPr>
                        <a:t>100.0%</a:t>
                      </a:r>
                      <a:endParaRPr lang="en-IN" sz="1000" b="1">
                        <a:solidFill>
                          <a:srgbClr val="059B46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smtClean="0">
                          <a:solidFill>
                            <a:srgbClr val="059B46"/>
                          </a:solidFill>
                          <a:latin typeface="Calibri" panose="020F0502020204030204" pitchFamily="34" charset="0"/>
                        </a:rPr>
                        <a:t>1.0000</a:t>
                      </a:r>
                      <a:endParaRPr lang="en-IN" sz="1000" b="1">
                        <a:solidFill>
                          <a:srgbClr val="059B46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smtClean="0">
                          <a:solidFill>
                            <a:srgbClr val="059B46"/>
                          </a:solidFill>
                          <a:latin typeface="Calibri" panose="020F0502020204030204" pitchFamily="34" charset="0"/>
                        </a:rPr>
                        <a:t>1.0000</a:t>
                      </a:r>
                      <a:endParaRPr lang="en-IN" sz="1000" b="1">
                        <a:solidFill>
                          <a:srgbClr val="059B46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b="1" smtClean="0">
                          <a:solidFill>
                            <a:srgbClr val="059B46"/>
                          </a:solidFill>
                          <a:latin typeface="Calibri" panose="020F0502020204030204" pitchFamily="34" charset="0"/>
                        </a:rPr>
                        <a:t>1.0000</a:t>
                      </a:r>
                      <a:endParaRPr lang="en-IN" sz="1000" b="1">
                        <a:solidFill>
                          <a:srgbClr val="059B46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Random Forest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99.44%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0.9945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0.9944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9F5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0.9944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9F5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Decision Tree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96.94%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0.9702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0.9694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000" smtClean="0">
                          <a:solidFill>
                            <a:srgbClr val="3B291E"/>
                          </a:solidFill>
                          <a:latin typeface="Calibri" panose="020F0502020204030204" pitchFamily="34" charset="0"/>
                        </a:rPr>
                        <a:t>0.9696</a:t>
                      </a:r>
                      <a:endParaRPr lang="en-IN" sz="1000">
                        <a:solidFill>
                          <a:srgbClr val="3B291E"/>
                        </a:solidFill>
                        <a:latin typeface="Calibri" panose="020F0502020204030204" pitchFamily="34" charset="0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35000" y="3937000"/>
            <a:ext cx="6096000" cy="22860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25500" y="4064000"/>
            <a:ext cx="5715000" cy="115416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50" b="1" smtClean="0">
                <a:solidFill>
                  <a:srgbClr val="0F2450"/>
                </a:solidFill>
                <a:latin typeface="Calibri" panose="020F0502020204030204" pitchFamily="34" charset="0"/>
              </a:rPr>
              <a:t>Champion Architecture Selection:
</a:t>
            </a:r>
            <a:r>
              <a:rPr lang="en-IN" sz="1150" smtClean="0">
                <a:solidFill>
                  <a:srgbClr val="3B291E"/>
                </a:solidFill>
                <a:latin typeface="Calibri" panose="020F0502020204030204" pitchFamily="34" charset="0"/>
              </a:rPr>
              <a:t>
- K-Nearest Neighbors (k=5, Euclidean metric) achieved optimal separation across all test splits due to cohesive cluster geometry in normalized 8D feature space.
- Random Forest verified strong non-linear split resilience (F1 = 0.9944).
- The serialized pipeline preserves the exact scaler statistics for zero-drift field deployment.</a:t>
            </a:r>
            <a:endParaRPr lang="en-IN" sz="1150">
              <a:solidFill>
                <a:srgbClr val="3B291E"/>
              </a:solidFill>
              <a:latin typeface="Calibri" panose="020F050202020403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4826000"/>
            <a:ext cx="6400813" cy="548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505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SECURE ML ENGINEERING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IN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Security Hardening &amp; Production Robustness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5334000" cy="2222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000" y="1397000"/>
            <a:ext cx="5334000" cy="50800"/>
          </a:xfrm>
          <a:prstGeom prst="rect">
            <a:avLst/>
          </a:prstGeom>
          <a:solidFill>
            <a:srgbClr val="333399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4826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500" b="1" smtClean="0">
                <a:solidFill>
                  <a:srgbClr val="0F2450"/>
                </a:solidFill>
              </a:rPr>
              <a:t>CWE-502 Deserialization Defense
Standard pickle/joblib files can execute arbitrary Python bytecode when loaded.
Soil-Sense generates a SHA-256 hash at training time. At runtime, the hash is recomputed before model unpickling. Tampered files are rejected with a SecurityException.</a:t>
            </a:r>
            <a:endParaRPr lang="en-IN" sz="1500" b="1">
              <a:solidFill>
                <a:srgbClr val="0F24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86500" y="1397000"/>
            <a:ext cx="5334000" cy="2222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286500" y="1397000"/>
            <a:ext cx="5334000" cy="50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540500" y="1587500"/>
            <a:ext cx="4826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 smtClean="0">
                <a:solidFill>
                  <a:srgbClr val="0F2450"/>
                </a:solidFill>
              </a:rPr>
              <a:t>Strict Schema Boundaries (Pydantic)
Prevents prompt injection, type confusion, and physical impossibilities (e.g. negative nitrogen or pH 18).
Enforces valid ranges on all 8 parameters before inference, rejecting malformed HTTP or CSV payloads.</a:t>
            </a:r>
            <a:endParaRPr lang="en-IN" sz="1500" b="1">
              <a:solidFill>
                <a:srgbClr val="0F245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5000" y="3873500"/>
            <a:ext cx="5334000" cy="2222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635000" y="3873500"/>
            <a:ext cx="5334000" cy="50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89000" y="4064000"/>
            <a:ext cx="4826000" cy="170816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 smtClean="0">
                <a:solidFill>
                  <a:srgbClr val="0F2450"/>
                </a:solidFill>
              </a:rPr>
              <a:t>Zero C: Drive Bloat Architecture
Implemented custom cache redirection (pip cache-dir -&gt; D:\pip-cache, TEMP -&gt; D:\temp).
Ensures zero footprint expansion on resource-constrained host machine system drives.</a:t>
            </a:r>
            <a:endParaRPr lang="en-IN" sz="1500" b="1">
              <a:solidFill>
                <a:srgbClr val="0F2450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86500" y="3873500"/>
            <a:ext cx="5334000" cy="22225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6286500" y="3873500"/>
            <a:ext cx="5334000" cy="508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6540500" y="4064000"/>
            <a:ext cx="4826000" cy="193899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500" b="1" smtClean="0">
                <a:solidFill>
                  <a:srgbClr val="0F2450"/>
                </a:solidFill>
              </a:rPr>
              <a:t>Defensive Preprocessing Pipelines
Prevents test-set data leakage by tightly binding StandardScaler parameters inside Scikit-Learn Pipeline instances.
Evaluation statistics reflect true generalization performance.</a:t>
            </a:r>
            <a:endParaRPr lang="en-IN" sz="1500" b="1">
              <a:solidFill>
                <a:srgbClr val="0F2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82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8000" y="304800"/>
            <a:ext cx="3302000" cy="279400"/>
          </a:xfrm>
          <a:prstGeom prst="rect">
            <a:avLst/>
          </a:prstGeom>
          <a:solidFill>
            <a:srgbClr val="F1F9E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25400" rIns="127000" bIns="25400" rtlCol="0" anchor="ctr"/>
          <a:lstStyle/>
          <a:p>
            <a:pPr algn="ctr"/>
            <a:r>
              <a:rPr lang="en-IN" sz="900" b="1" smtClean="0">
                <a:solidFill>
                  <a:srgbClr val="059B46"/>
                </a:solidFill>
                <a:latin typeface="Calibri" panose="020F0502020204030204" pitchFamily="34" charset="0"/>
              </a:rPr>
              <a:t>CONCLUSION &amp; NEXT STEPS</a:t>
            </a:r>
            <a:endParaRPr lang="en-IN" sz="900" b="1">
              <a:solidFill>
                <a:srgbClr val="059B46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57200" y="584200"/>
            <a:ext cx="11176000" cy="384721"/>
          </a:xfrm>
          <a:prstGeom prst="rect">
            <a:avLst/>
          </a:prstGeom>
          <a:noFill/>
        </p:spPr>
        <p:txBody>
          <a:bodyPr vert="horz" lIns="0" tIns="0" rtlCol="0">
            <a:spAutoFit/>
          </a:bodyPr>
          <a:lstStyle/>
          <a:p>
            <a:r>
              <a:rPr lang="en-US" sz="2200" b="1" smtClean="0">
                <a:solidFill>
                  <a:srgbClr val="0F2450"/>
                </a:solidFill>
                <a:latin typeface="Calibri" panose="020F0502020204030204" pitchFamily="34" charset="0"/>
              </a:rPr>
              <a:t>Review Summary &amp; Future Project Roadmap</a:t>
            </a:r>
            <a:endParaRPr lang="en-IN" sz="2200" b="1">
              <a:solidFill>
                <a:srgbClr val="0F2450"/>
              </a:solidFill>
              <a:latin typeface="Calibri" panose="020F050202020403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35000" y="1397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35000" y="1397000"/>
            <a:ext cx="5334000" cy="63500"/>
          </a:xfrm>
          <a:prstGeom prst="rect">
            <a:avLst/>
          </a:prstGeom>
          <a:solidFill>
            <a:srgbClr val="059B4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889000" y="1587500"/>
            <a:ext cx="4826000" cy="255454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 smtClean="0">
                <a:solidFill>
                  <a:srgbClr val="0F2450"/>
                </a:solidFill>
              </a:rPr>
              <a:t>Review-I Completed Deliverables
• Production-ready ML Pipeline with 100% test accuracy on multi-parameter benchmark.
• Cryptographically secured deployment engine (SHA-256 verification).
• Real-time responsive Streamlit UI supporting single &amp; batch screening.
• ICAR/FAO-aligned prescriptive agronomic advisory engine.</a:t>
            </a:r>
            <a:endParaRPr lang="en-IN" sz="1600" b="1">
              <a:solidFill>
                <a:srgbClr val="0F245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86500" y="1397000"/>
            <a:ext cx="533400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F0E8E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6286500" y="1397000"/>
            <a:ext cx="5334000" cy="63500"/>
          </a:xfrm>
          <a:prstGeom prst="rect">
            <a:avLst/>
          </a:prstGeom>
          <a:solidFill>
            <a:srgbClr val="0F245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6540500" y="1587500"/>
            <a:ext cx="4826000" cy="280076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600" b="1" smtClean="0">
                <a:solidFill>
                  <a:srgbClr val="0F2450"/>
                </a:solidFill>
              </a:rPr>
              <a:t>Review-II Roadmap &amp; Enhancements
• IoT Sensor Integration: Ingest live telemetry from ESP32 / Arduino soil probes via MQTT/REST.
• Micro-Nutrient Modeling: Expand feature vector to include Zinc, Iron, Boron, and Organic Carbon.
• Multilingual Regional Support: Localize advisory reports into regional languages (Hindi, Marathi, Telugu, Tamil).
• Offline Edge Deployment: Quantize pipeline for Raspberry Pi and low-cost agricultural edge gateways.</a:t>
            </a:r>
            <a:endParaRPr lang="en-IN" sz="1600" b="1">
              <a:solidFill>
                <a:srgbClr val="0F24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12951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Microsoft Office PowerPoint</Application>
  <PresentationFormat>Custom</PresentationFormat>
  <Paragraphs>111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1</cp:revision>
  <dcterms:created xsi:type="dcterms:W3CDTF">2026-10-14T17:06:05Z</dcterms:created>
  <dcterms:modified xsi:type="dcterms:W3CDTF">2026-10-14T17:06:05Z</dcterms:modified>
</cp:coreProperties>
</file>